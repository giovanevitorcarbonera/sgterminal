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5" r:id="rId3"/>
    <p:sldId id="261" r:id="rId4"/>
    <p:sldId id="266" r:id="rId5"/>
    <p:sldId id="258" r:id="rId6"/>
    <p:sldId id="259" r:id="rId7"/>
    <p:sldId id="262" r:id="rId8"/>
    <p:sldId id="263" r:id="rId9"/>
  </p:sldIdLst>
  <p:sldSz cx="12192000" cy="6858000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Inter" panose="020B0604020202020204" charset="0"/>
      <p:regular r:id="rId15"/>
      <p:bold r:id="rId16"/>
      <p:italic r:id="rId17"/>
      <p:boldItalic r:id="rId18"/>
    </p:embeddedFont>
    <p:embeddedFont>
      <p:font typeface="Inter Light" panose="020B0604020202020204" charset="0"/>
      <p:regular r:id="rId19"/>
      <p:bold r:id="rId20"/>
      <p:italic r:id="rId21"/>
      <p:boldItalic r:id="rId22"/>
    </p:embeddedFont>
    <p:embeddedFont>
      <p:font typeface="Lato" panose="020F0502020204030203" pitchFamily="34" charset="0"/>
      <p:regular r:id="rId23"/>
      <p:bold r:id="rId24"/>
      <p:italic r:id="rId25"/>
      <p:boldItalic r:id="rId26"/>
    </p:embeddedFont>
    <p:embeddedFont>
      <p:font typeface="Poppins" panose="00000500000000000000" pitchFamily="2" charset="0"/>
      <p:regular r:id="rId27"/>
      <p:bold r:id="rId28"/>
      <p:italic r:id="rId29"/>
      <p:boldItalic r:id="rId30"/>
    </p:embeddedFont>
    <p:embeddedFont>
      <p:font typeface="Poppins SemiBold" panose="00000700000000000000" pitchFamily="2" charset="0"/>
      <p:bold r:id="rId31"/>
      <p:boldItalic r:id="rId32"/>
    </p:embeddedFont>
    <p:embeddedFont>
      <p:font typeface="Urbanist" panose="020B0604020202020204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7" roundtripDataSignature="AMtx7mjBmTdxs7JkKzPrUjFXAACl1xDDd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D4BF"/>
    <a:srgbClr val="4F9F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1A627F3-E248-4515-9E37-8805ACA69EC3}">
  <a:tblStyle styleId="{71A627F3-E248-4515-9E37-8805ACA69EC3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tcBdr/>
        <a:fill>
          <a:solidFill>
            <a:srgbClr val="CFD7E7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FD7E7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font" Target="fonts/font16.fntdata"/><Relationship Id="rId39" Type="http://schemas.openxmlformats.org/officeDocument/2006/relationships/viewProps" Target="viewProps.xml"/><Relationship Id="rId21" Type="http://schemas.openxmlformats.org/officeDocument/2006/relationships/font" Target="fonts/font11.fntdata"/><Relationship Id="rId34" Type="http://schemas.openxmlformats.org/officeDocument/2006/relationships/font" Target="fonts/font2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29" Type="http://schemas.openxmlformats.org/officeDocument/2006/relationships/font" Target="fonts/font19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font" Target="fonts/font14.fntdata"/><Relationship Id="rId32" Type="http://schemas.openxmlformats.org/officeDocument/2006/relationships/font" Target="fonts/font22.fntdata"/><Relationship Id="rId37" Type="http://customschemas.google.com/relationships/presentationmetadata" Target="meta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font" Target="fonts/font13.fntdata"/><Relationship Id="rId28" Type="http://schemas.openxmlformats.org/officeDocument/2006/relationships/font" Target="fonts/font18.fntdata"/><Relationship Id="rId36" Type="http://schemas.openxmlformats.org/officeDocument/2006/relationships/font" Target="fonts/font26.fntdata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31" Type="http://schemas.openxmlformats.org/officeDocument/2006/relationships/font" Target="fonts/font2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Relationship Id="rId27" Type="http://schemas.openxmlformats.org/officeDocument/2006/relationships/font" Target="fonts/font17.fntdata"/><Relationship Id="rId30" Type="http://schemas.openxmlformats.org/officeDocument/2006/relationships/font" Target="fonts/font20.fntdata"/><Relationship Id="rId35" Type="http://schemas.openxmlformats.org/officeDocument/2006/relationships/font" Target="fonts/font25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font" Target="fonts/font15.fntdata"/><Relationship Id="rId33" Type="http://schemas.openxmlformats.org/officeDocument/2006/relationships/font" Target="fonts/font23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1" name="Google Shape;19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91194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78" name="Google Shape;17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63" name="Google Shape;16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175666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4" name="Google Shape;13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1" name="Google Shape;19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8" name="Google Shape;20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2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2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4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4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5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6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6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16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6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8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8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9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9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9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0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1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3495675"/>
            <a:ext cx="7620000" cy="12001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"/>
          <p:cNvSpPr txBox="1"/>
          <p:nvPr/>
        </p:nvSpPr>
        <p:spPr>
          <a:xfrm>
            <a:off x="762000" y="1362075"/>
            <a:ext cx="112014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300"/>
              <a:buFont typeface="Arial"/>
              <a:buNone/>
            </a:pPr>
            <a:r>
              <a:rPr lang="en-US" sz="63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SG Terminal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762000" y="2466975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rgbClr val="38BDF8"/>
                </a:solidFill>
                <a:latin typeface="Inter Light"/>
                <a:ea typeface="Inter Light"/>
                <a:cs typeface="Inter Light"/>
                <a:sym typeface="Inter Light"/>
              </a:rPr>
              <a:t>Gestão Inteligente para a Rodoviária de Londrina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371600" y="3714750"/>
            <a:ext cx="70104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2800" b="1" u="sng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"</a:t>
            </a:r>
            <a:r>
              <a:rPr lang="en-US" sz="2800" b="1" u="sng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Modernizando</a:t>
            </a:r>
            <a:r>
              <a:rPr lang="en-US" sz="2800" b="1" u="sng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800" b="1" u="sng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processos</a:t>
            </a:r>
            <a:r>
              <a:rPr lang="en-US" sz="2800" b="1" u="sng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800" b="1" u="sng" strike="noStrike" cap="none" dirty="0" err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manuais</a:t>
            </a:r>
            <a:r>
              <a:rPr lang="en-US" sz="2800" b="1" u="sng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”</a:t>
            </a:r>
            <a:endParaRPr sz="2400" b="1" u="sng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904875" y="5076825"/>
            <a:ext cx="1905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Marcos Gabriel Iurak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2DD4BF"/>
                </a:solidFill>
                <a:latin typeface="Inter"/>
                <a:ea typeface="Inter"/>
                <a:cs typeface="Inter"/>
                <a:sym typeface="Inter"/>
              </a:rPr>
              <a:t>Doc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762000" y="5076825"/>
            <a:ext cx="19050" cy="419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3333750" y="5076825"/>
            <a:ext cx="22764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Giovane Vitor Carbonera</a:t>
            </a:r>
            <a:endParaRPr sz="1200" b="1" i="0" u="none" strike="noStrike" cap="none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2DD4BF"/>
                </a:solidFill>
                <a:latin typeface="Inter"/>
                <a:ea typeface="Inter"/>
                <a:cs typeface="Inter"/>
                <a:sym typeface="Inter"/>
              </a:rPr>
              <a:t>Full Stack Dev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3190875" y="5076825"/>
            <a:ext cx="19050" cy="419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6134100" y="5076825"/>
            <a:ext cx="21621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Rômulo Moreira Moreto </a:t>
            </a:r>
            <a:r>
              <a:rPr lang="en-US" sz="1200" b="0" i="0" u="none" strike="noStrike" cap="none">
                <a:solidFill>
                  <a:srgbClr val="2DD4BF"/>
                </a:solidFill>
                <a:latin typeface="Inter"/>
                <a:ea typeface="Inter"/>
                <a:cs typeface="Inter"/>
                <a:sym typeface="Inter"/>
              </a:rPr>
              <a:t>FullStack Dev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/>
          <p:nvPr/>
        </p:nvSpPr>
        <p:spPr>
          <a:xfrm>
            <a:off x="5991225" y="5076825"/>
            <a:ext cx="19050" cy="419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7"/>
          <p:cNvSpPr txBox="1"/>
          <p:nvPr/>
        </p:nvSpPr>
        <p:spPr>
          <a:xfrm>
            <a:off x="990600" y="571500"/>
            <a:ext cx="8287871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10000"/>
              </a:lnSpc>
              <a:buSzPts val="3900"/>
            </a:pPr>
            <a:r>
              <a:rPr lang="pt-BR" sz="4000" b="1" i="0" u="none" strike="noStrike" cap="none" dirty="0">
                <a:solidFill>
                  <a:schemeClr val="bg1"/>
                </a:solidFill>
                <a:latin typeface="Poppins"/>
                <a:ea typeface="Poppins"/>
                <a:cs typeface="Poppins"/>
                <a:sym typeface="Poppins"/>
              </a:rPr>
              <a:t>A Dor da Operação </a:t>
            </a:r>
            <a:r>
              <a:rPr lang="en-US" sz="4000" b="1" i="0" u="none" strike="noStrike" cap="none" dirty="0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Analogia</a:t>
            </a:r>
            <a:endParaRPr lang="en-US" sz="16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ct val="110000"/>
              </a:lnSpc>
              <a:buSzPts val="3900"/>
            </a:pPr>
            <a:endParaRPr lang="pt-BR" sz="4000" dirty="0">
              <a:solidFill>
                <a:schemeClr val="bg1"/>
              </a:solidFill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762000" y="571500"/>
            <a:ext cx="76200" cy="54471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98;p14">
            <a:extLst>
              <a:ext uri="{FF2B5EF4-FFF2-40B4-BE49-F238E27FC236}">
                <a16:creationId xmlns:a16="http://schemas.microsoft.com/office/drawing/2014/main" id="{25D9EAEE-9C69-48CF-813F-1B5EB811A5D8}"/>
              </a:ext>
            </a:extLst>
          </p:cNvPr>
          <p:cNvSpPr txBox="1"/>
          <p:nvPr/>
        </p:nvSpPr>
        <p:spPr>
          <a:xfrm>
            <a:off x="762000" y="1731168"/>
            <a:ext cx="5885735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 </a:t>
            </a:r>
            <a:r>
              <a:rPr lang="en-US" sz="195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custo</a:t>
            </a:r>
            <a:r>
              <a:rPr lang="en-US" sz="195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195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oculto</a:t>
            </a:r>
            <a:r>
              <a:rPr lang="en-US" sz="195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do </a:t>
            </a:r>
            <a:r>
              <a:rPr lang="en-US" sz="195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papel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94D0949C-7082-455B-B6ED-096D4F32111E}"/>
              </a:ext>
            </a:extLst>
          </p:cNvPr>
          <p:cNvSpPr txBox="1"/>
          <p:nvPr/>
        </p:nvSpPr>
        <p:spPr>
          <a:xfrm>
            <a:off x="694765" y="2135523"/>
            <a:ext cx="6158752" cy="1021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O terminal rodoviário de Londrina gerencia um fluxo constante de veículos utilizando controles majoritariamente analógicos, o que expõe a concessionária a perdas operacionais expressivas: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4" name="Google Shape;100;p14">
            <a:extLst>
              <a:ext uri="{FF2B5EF4-FFF2-40B4-BE49-F238E27FC236}">
                <a16:creationId xmlns:a16="http://schemas.microsoft.com/office/drawing/2014/main" id="{E39B7320-65EE-43CC-8A02-DC5CCE507392}"/>
              </a:ext>
            </a:extLst>
          </p:cNvPr>
          <p:cNvSpPr txBox="1"/>
          <p:nvPr/>
        </p:nvSpPr>
        <p:spPr>
          <a:xfrm>
            <a:off x="1029176" y="3406796"/>
            <a:ext cx="5272087" cy="58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Anotações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Físicas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e </a:t>
            </a: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Redundância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Erros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sistemáticos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digitação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rasuras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perda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bilhetes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geram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gargalos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faturamento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5" name="Google Shape;101;p14">
            <a:extLst>
              <a:ext uri="{FF2B5EF4-FFF2-40B4-BE49-F238E27FC236}">
                <a16:creationId xmlns:a16="http://schemas.microsoft.com/office/drawing/2014/main" id="{3D90E9BA-0142-45D0-A2C1-82C8C4B0151F}"/>
              </a:ext>
            </a:extLst>
          </p:cNvPr>
          <p:cNvSpPr txBox="1"/>
          <p:nvPr/>
        </p:nvSpPr>
        <p:spPr>
          <a:xfrm>
            <a:off x="1029176" y="4378346"/>
            <a:ext cx="5272087" cy="58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Descentralização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Vagas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Impossibilidade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auditar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ocupação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real das 240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vagas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estacionamento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em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tempo real.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6" name="Google Shape;102;p14">
            <a:extLst>
              <a:ext uri="{FF2B5EF4-FFF2-40B4-BE49-F238E27FC236}">
                <a16:creationId xmlns:a16="http://schemas.microsoft.com/office/drawing/2014/main" id="{C9EB1ADE-7C3C-4773-993B-2645EC46DE72}"/>
              </a:ext>
            </a:extLst>
          </p:cNvPr>
          <p:cNvSpPr txBox="1"/>
          <p:nvPr/>
        </p:nvSpPr>
        <p:spPr>
          <a:xfrm>
            <a:off x="1029176" y="5349896"/>
            <a:ext cx="5272087" cy="58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Vulnerabilidade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Caixa: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falta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logs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criptográficos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retroativos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dificulta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prestação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contas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com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Órgãos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Reguladores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27" name="Google Shape;104;p14" descr="image.png">
            <a:extLst>
              <a:ext uri="{FF2B5EF4-FFF2-40B4-BE49-F238E27FC236}">
                <a16:creationId xmlns:a16="http://schemas.microsoft.com/office/drawing/2014/main" id="{4FF0394C-4868-4743-99BE-522FC988B99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3729" y="34290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105;p14" descr="image.png">
            <a:extLst>
              <a:ext uri="{FF2B5EF4-FFF2-40B4-BE49-F238E27FC236}">
                <a16:creationId xmlns:a16="http://schemas.microsoft.com/office/drawing/2014/main" id="{3229C02C-5F7A-4E8D-A026-CA7114B16CE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3729" y="44005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6;p14" descr="image.png">
            <a:extLst>
              <a:ext uri="{FF2B5EF4-FFF2-40B4-BE49-F238E27FC236}">
                <a16:creationId xmlns:a16="http://schemas.microsoft.com/office/drawing/2014/main" id="{31C5CDB3-E00D-4274-93A6-7A66F86B64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3729" y="5372100"/>
            <a:ext cx="190500" cy="2000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72950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0600" y="1613464"/>
            <a:ext cx="5932472" cy="36571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62862" y="3173507"/>
            <a:ext cx="2667000" cy="2050405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6"/>
          <p:cNvSpPr txBox="1"/>
          <p:nvPr/>
        </p:nvSpPr>
        <p:spPr>
          <a:xfrm>
            <a:off x="762000" y="5250060"/>
            <a:ext cx="106680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Custo Mensal para a Empresa por não implementar: R$100 a R$400 por vaga por mês (Consideramos a media: R$250)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No terminal tem 240 vagas se considerarmos 10% (estimativa) daria um custo mensal de R$6.000 p/mês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pt-BR" sz="1200" dirty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Recuperação integral do investimento (CAPEX) no Mês </a:t>
            </a:r>
            <a:r>
              <a:rPr lang="pt-BR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r>
              <a:rPr lang="pt-BR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da operação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6"/>
          <p:cNvSpPr txBox="1"/>
          <p:nvPr/>
        </p:nvSpPr>
        <p:spPr>
          <a:xfrm>
            <a:off x="990600" y="571500"/>
            <a:ext cx="5320665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Viabilidade </a:t>
            </a:r>
            <a:r>
              <a:rPr lang="en-US" sz="39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Financeira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762000" y="571500"/>
            <a:ext cx="76200" cy="54471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1" name="Table 3">
            <a:extLst>
              <a:ext uri="{FF2B5EF4-FFF2-40B4-BE49-F238E27FC236}">
                <a16:creationId xmlns:a16="http://schemas.microsoft.com/office/drawing/2014/main" id="{503F080F-FF4D-40C0-AE89-281088D2A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3522350"/>
              </p:ext>
            </p:extLst>
          </p:nvPr>
        </p:nvGraphicFramePr>
        <p:xfrm>
          <a:off x="7662862" y="1217221"/>
          <a:ext cx="271585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31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27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282">
                <a:tc>
                  <a:txBody>
                    <a:bodyPr/>
                    <a:lstStyle/>
                    <a:p>
                      <a:r>
                        <a:rPr lang="pt-BR"/>
                        <a:t>Mês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/>
                        <a:t>Saldo Acumulado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282">
                <a:tc>
                  <a:txBody>
                    <a:bodyPr/>
                    <a:lstStyle/>
                    <a:p>
                      <a:r>
                        <a:rPr lang="pt-BR"/>
                        <a:t>Mês 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/>
                        <a:t>-R$ 22.000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282">
                <a:tc>
                  <a:txBody>
                    <a:bodyPr/>
                    <a:lstStyle/>
                    <a:p>
                      <a:r>
                        <a:rPr lang="pt-BR"/>
                        <a:t>Mês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dirty="0"/>
                        <a:t>-R$ 16.200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282">
                <a:tc>
                  <a:txBody>
                    <a:bodyPr/>
                    <a:lstStyle/>
                    <a:p>
                      <a:r>
                        <a:rPr lang="pt-BR"/>
                        <a:t>Mês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dirty="0"/>
                        <a:t>-R$ 10.400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282">
                <a:tc>
                  <a:txBody>
                    <a:bodyPr/>
                    <a:lstStyle/>
                    <a:p>
                      <a:r>
                        <a:rPr lang="pt-BR"/>
                        <a:t>Mês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dirty="0"/>
                        <a:t>-R$ 4.600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282">
                <a:tc>
                  <a:txBody>
                    <a:bodyPr/>
                    <a:lstStyle/>
                    <a:p>
                      <a:r>
                        <a:rPr lang="pt-BR"/>
                        <a:t>Mês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b="1" dirty="0"/>
                        <a:t>+R$ 1.200</a:t>
                      </a:r>
                      <a:endParaRPr lang="pt-B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5" name="Imagem 4">
            <a:extLst>
              <a:ext uri="{FF2B5EF4-FFF2-40B4-BE49-F238E27FC236}">
                <a16:creationId xmlns:a16="http://schemas.microsoft.com/office/drawing/2014/main" id="{7BA6F5DF-1F54-439C-B3D6-6B1F0BF4E7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4799" y="3300991"/>
            <a:ext cx="2483049" cy="179543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1034" name="Picture 10" descr="Imagem gerada">
            <a:extLst>
              <a:ext uri="{FF2B5EF4-FFF2-40B4-BE49-F238E27FC236}">
                <a16:creationId xmlns:a16="http://schemas.microsoft.com/office/drawing/2014/main" id="{AB595DC7-E313-4643-B278-FEB3AE417E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499" y="1613464"/>
            <a:ext cx="6551571" cy="3657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5"/>
          <p:cNvSpPr txBox="1"/>
          <p:nvPr/>
        </p:nvSpPr>
        <p:spPr>
          <a:xfrm>
            <a:off x="981635" y="638174"/>
            <a:ext cx="11658600" cy="914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10000"/>
              </a:lnSpc>
              <a:buSzPts val="3900"/>
            </a:pPr>
            <a:r>
              <a:rPr lang="pt-BR" sz="4000" b="1" i="0" u="none" strike="noStrike" cap="none" dirty="0">
                <a:solidFill>
                  <a:schemeClr val="bg1"/>
                </a:solidFill>
                <a:latin typeface="Poppins"/>
                <a:ea typeface="Poppins"/>
                <a:cs typeface="Poppins"/>
                <a:sym typeface="Poppins"/>
              </a:rPr>
              <a:t>Infraestrutura Cloud &amp; Análise de </a:t>
            </a:r>
            <a:r>
              <a:rPr lang="pt-BR" sz="4000" b="1" i="0" u="none" strike="noStrike" cap="none" dirty="0">
                <a:solidFill>
                  <a:srgbClr val="2DD4BF"/>
                </a:solidFill>
                <a:latin typeface="Poppins"/>
                <a:ea typeface="Poppins"/>
                <a:cs typeface="Poppins"/>
                <a:sym typeface="Poppins"/>
              </a:rPr>
              <a:t>Riscos</a:t>
            </a:r>
            <a:endParaRPr lang="pt-BR" sz="4000" dirty="0">
              <a:solidFill>
                <a:srgbClr val="2DD4BF"/>
              </a:solidFill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endParaRPr sz="14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762000" y="762000"/>
            <a:ext cx="76200" cy="54471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175;p17">
            <a:extLst>
              <a:ext uri="{FF2B5EF4-FFF2-40B4-BE49-F238E27FC236}">
                <a16:creationId xmlns:a16="http://schemas.microsoft.com/office/drawing/2014/main" id="{4FADEB63-683E-4702-99A8-50AC58166333}"/>
              </a:ext>
            </a:extLst>
          </p:cNvPr>
          <p:cNvSpPr txBox="1"/>
          <p:nvPr/>
        </p:nvSpPr>
        <p:spPr>
          <a:xfrm>
            <a:off x="5314950" y="1435893"/>
            <a:ext cx="6420802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Ambiente Resiliente</a:t>
            </a:r>
            <a:endParaRPr/>
          </a:p>
        </p:txBody>
      </p:sp>
      <p:sp>
        <p:nvSpPr>
          <p:cNvPr id="25" name="Google Shape;176;p17">
            <a:extLst>
              <a:ext uri="{FF2B5EF4-FFF2-40B4-BE49-F238E27FC236}">
                <a16:creationId xmlns:a16="http://schemas.microsoft.com/office/drawing/2014/main" id="{293344E0-1C88-4131-9A6D-3C036E413C97}"/>
              </a:ext>
            </a:extLst>
          </p:cNvPr>
          <p:cNvSpPr txBox="1"/>
          <p:nvPr/>
        </p:nvSpPr>
        <p:spPr>
          <a:xfrm>
            <a:off x="5314950" y="1902618"/>
            <a:ext cx="6115050" cy="58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Decisões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engenharia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pensadas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para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manter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operação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rodoviária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rodando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ininterruptamente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, com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controle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rigoroso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custos: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6" name="Google Shape;178;p17">
            <a:extLst>
              <a:ext uri="{FF2B5EF4-FFF2-40B4-BE49-F238E27FC236}">
                <a16:creationId xmlns:a16="http://schemas.microsoft.com/office/drawing/2014/main" id="{F69CEEB6-F6B1-479C-B760-1128C55CA27B}"/>
              </a:ext>
            </a:extLst>
          </p:cNvPr>
          <p:cNvSpPr txBox="1"/>
          <p:nvPr/>
        </p:nvSpPr>
        <p:spPr>
          <a:xfrm>
            <a:off x="5648325" y="3488962"/>
            <a:ext cx="5781675" cy="58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OPEX </a:t>
            </a: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Otimizado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Arquitetura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Cloud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escalável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baseada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em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consumo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sob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demanda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orçada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em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apenas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R$ 200,00/</a:t>
            </a: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mês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7" name="Google Shape;180;p17">
            <a:extLst>
              <a:ext uri="{FF2B5EF4-FFF2-40B4-BE49-F238E27FC236}">
                <a16:creationId xmlns:a16="http://schemas.microsoft.com/office/drawing/2014/main" id="{C3E107F9-F610-4720-9C35-F7639B94919C}"/>
              </a:ext>
            </a:extLst>
          </p:cNvPr>
          <p:cNvSpPr txBox="1"/>
          <p:nvPr/>
        </p:nvSpPr>
        <p:spPr>
          <a:xfrm>
            <a:off x="5648325" y="4983956"/>
            <a:ext cx="5781675" cy="58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Reserva de Escopo:</a:t>
            </a:r>
            <a:r>
              <a:rPr lang="pt-BR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Contingência técnica de </a:t>
            </a:r>
            <a:r>
              <a:rPr lang="pt-BR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R$ 5.320,00</a:t>
            </a:r>
            <a:r>
              <a:rPr lang="pt-BR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provisionada no orçamento inicial de desenvolvimento.</a:t>
            </a:r>
            <a:endParaRPr lang="pt-BR" sz="1200" dirty="0">
              <a:solidFill>
                <a:schemeClr val="bg1"/>
              </a:solidFill>
            </a:endParaRPr>
          </a:p>
        </p:txBody>
      </p:sp>
      <p:pic>
        <p:nvPicPr>
          <p:cNvPr id="29" name="Google Shape;177;p17" descr="image.png">
            <a:extLst>
              <a:ext uri="{FF2B5EF4-FFF2-40B4-BE49-F238E27FC236}">
                <a16:creationId xmlns:a16="http://schemas.microsoft.com/office/drawing/2014/main" id="{24464D7B-DB09-4EEF-A325-5E0D8FFE9FA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3000" y="2185987"/>
            <a:ext cx="3314700" cy="33147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730115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497210"/>
            <a:ext cx="3365450" cy="3789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13200" y="1497210"/>
            <a:ext cx="3365450" cy="3789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1497210"/>
            <a:ext cx="3365450" cy="3789164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3"/>
          <p:cNvSpPr txBox="1"/>
          <p:nvPr/>
        </p:nvSpPr>
        <p:spPr>
          <a:xfrm>
            <a:off x="762000" y="5667375"/>
            <a:ext cx="10668000" cy="450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lang="en-US" sz="1950" b="1" i="0" u="none" strike="noStrike" cap="none">
                <a:solidFill>
                  <a:srgbClr val="F8FAFC"/>
                </a:solidFill>
                <a:latin typeface="Inter Light"/>
                <a:ea typeface="Inter Light"/>
                <a:cs typeface="Inter Light"/>
                <a:sym typeface="Inter Light"/>
              </a:rPr>
              <a:t>"Gestão de pátio rápida, segura e 100% digital."</a:t>
            </a:r>
            <a:endParaRPr sz="1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3"/>
          <p:cNvSpPr txBox="1"/>
          <p:nvPr/>
        </p:nvSpPr>
        <p:spPr>
          <a:xfrm>
            <a:off x="1152525" y="2687835"/>
            <a:ext cx="271362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Agilidade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1152525" y="3326010"/>
            <a:ext cx="25844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Controle de entrada e saída de veículos 40% mais rápido que o processo manual.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3"/>
          <p:cNvSpPr txBox="1"/>
          <p:nvPr/>
        </p:nvSpPr>
        <p:spPr>
          <a:xfrm>
            <a:off x="4803725" y="2687835"/>
            <a:ext cx="271362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Nuvem Real-Time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4803725" y="3326010"/>
            <a:ext cx="25844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Informações centralizadas acessíveis de qualquer lugar por gestores autorizados.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8454925" y="2687835"/>
            <a:ext cx="271362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Segurança JWT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8454925" y="3326010"/>
            <a:ext cx="25844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Autenticação robusta e níveis de permissão que garantem a integridade dos dados.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7" name="Google Shape;127;p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52525" y="1935360"/>
            <a:ext cx="3429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803725" y="1935360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3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54925" y="1935360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"/>
          <p:cNvSpPr txBox="1"/>
          <p:nvPr/>
        </p:nvSpPr>
        <p:spPr>
          <a:xfrm>
            <a:off x="990600" y="571500"/>
            <a:ext cx="6720840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Solução &amp; </a:t>
            </a:r>
            <a:r>
              <a:rPr lang="en-US" sz="39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Proposta de Valor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762000" y="571500"/>
            <a:ext cx="76200" cy="54471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511498"/>
            <a:ext cx="5143500" cy="3895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67500" y="4064198"/>
            <a:ext cx="4381500" cy="809625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4"/>
          <p:cNvSpPr txBox="1"/>
          <p:nvPr/>
        </p:nvSpPr>
        <p:spPr>
          <a:xfrm>
            <a:off x="762000" y="1497210"/>
            <a:ext cx="54006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4"/>
              <a:buFont typeface="Arial"/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Backlog de Desenvolvimento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40" name="Google Shape;140;p4"/>
          <p:cNvGraphicFramePr/>
          <p:nvPr/>
        </p:nvGraphicFramePr>
        <p:xfrm>
          <a:off x="762000" y="1906785"/>
          <a:ext cx="5143500" cy="3514700"/>
        </p:xfrm>
        <a:graphic>
          <a:graphicData uri="http://schemas.openxmlformats.org/drawingml/2006/table">
            <a:tbl>
              <a:tblPr firstRow="1" bandRow="1">
                <a:noFill/>
                <a:tableStyleId>{71A627F3-E248-4515-9E37-8805ACA69EC3}</a:tableStyleId>
              </a:tblPr>
              <a:tblGrid>
                <a:gridCol w="3101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2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D4B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Funcionalidade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D4B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Esforço (SP)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Login JWT &amp; Permissões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8</a:t>
                      </a: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SP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Cadastro de Veículos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3</a:t>
                      </a: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SP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Entrada/Saída de Pátio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5</a:t>
                      </a: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SP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Interface Basica </a:t>
                      </a: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Operacional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3</a:t>
                      </a: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SP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Dashboard </a:t>
                      </a: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Basico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3</a:t>
                      </a: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SP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1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Total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1">
                          <a:latin typeface="Inter"/>
                          <a:ea typeface="Inter"/>
                          <a:cs typeface="Inter"/>
                          <a:sym typeface="Inter"/>
                        </a:rPr>
                        <a:t>22</a:t>
                      </a:r>
                      <a:r>
                        <a:rPr lang="en-US" sz="1350" b="1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SP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1" name="Google Shape;141;p4"/>
          <p:cNvSpPr txBox="1"/>
          <p:nvPr/>
        </p:nvSpPr>
        <p:spPr>
          <a:xfrm>
            <a:off x="6667500" y="1892498"/>
            <a:ext cx="46005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4"/>
              <a:buFont typeface="Arial"/>
              <a:buNone/>
            </a:pPr>
            <a:r>
              <a:rPr lang="en-US" sz="1404" b="1" i="0" u="none" strike="noStrike" cap="non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Métricas da Squad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4"/>
          <p:cNvSpPr txBox="1"/>
          <p:nvPr/>
        </p:nvSpPr>
        <p:spPr>
          <a:xfrm>
            <a:off x="6640934" y="2379484"/>
            <a:ext cx="43815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pt-BR" sz="4000" b="1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Por 1 mês</a:t>
            </a:r>
            <a:endParaRPr sz="4000" b="1" i="0" u="none" strike="noStrike" cap="none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4"/>
          <p:cNvSpPr txBox="1"/>
          <p:nvPr/>
        </p:nvSpPr>
        <p:spPr>
          <a:xfrm>
            <a:off x="6667500" y="3464123"/>
            <a:ext cx="4381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Stack:</a:t>
            </a:r>
            <a:r>
              <a:rPr lang="en-US" sz="16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Node.js</a:t>
            </a:r>
            <a:r>
              <a:rPr lang="en-US" sz="16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+ PostgreSQL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762000" y="2411610"/>
            <a:ext cx="3101131" cy="1905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3863131" y="2411610"/>
            <a:ext cx="2042368" cy="1905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 txBox="1"/>
          <p:nvPr/>
        </p:nvSpPr>
        <p:spPr>
          <a:xfrm>
            <a:off x="6667500" y="4416623"/>
            <a:ext cx="4381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Investimento Estimado: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R$ </a:t>
            </a: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1.0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00 por Story Point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Custo </a:t>
            </a:r>
            <a:r>
              <a:rPr lang="en-US" sz="1200" b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Total</a:t>
            </a:r>
            <a:r>
              <a:rPr lang="en-US" sz="12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R$ </a:t>
            </a: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22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.000 (simulado)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762000" y="2921198"/>
            <a:ext cx="3101131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3863131" y="2921198"/>
            <a:ext cx="2042368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762000" y="3416498"/>
            <a:ext cx="3101131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3863131" y="3416498"/>
            <a:ext cx="2042368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762000" y="3911798"/>
            <a:ext cx="3101131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/>
          <p:nvPr/>
        </p:nvSpPr>
        <p:spPr>
          <a:xfrm>
            <a:off x="3863131" y="3911798"/>
            <a:ext cx="2042368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4"/>
          <p:cNvSpPr/>
          <p:nvPr/>
        </p:nvSpPr>
        <p:spPr>
          <a:xfrm>
            <a:off x="762000" y="4407098"/>
            <a:ext cx="3101131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4"/>
          <p:cNvSpPr/>
          <p:nvPr/>
        </p:nvSpPr>
        <p:spPr>
          <a:xfrm>
            <a:off x="3863131" y="4407098"/>
            <a:ext cx="2042368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4"/>
          <p:cNvSpPr/>
          <p:nvPr/>
        </p:nvSpPr>
        <p:spPr>
          <a:xfrm>
            <a:off x="762000" y="4907160"/>
            <a:ext cx="3101131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4"/>
          <p:cNvSpPr/>
          <p:nvPr/>
        </p:nvSpPr>
        <p:spPr>
          <a:xfrm>
            <a:off x="3863131" y="4907160"/>
            <a:ext cx="2042368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"/>
          <p:cNvSpPr/>
          <p:nvPr/>
        </p:nvSpPr>
        <p:spPr>
          <a:xfrm>
            <a:off x="762000" y="5407223"/>
            <a:ext cx="3101131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"/>
          <p:cNvSpPr/>
          <p:nvPr/>
        </p:nvSpPr>
        <p:spPr>
          <a:xfrm>
            <a:off x="3863131" y="5407223"/>
            <a:ext cx="2042368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4"/>
          <p:cNvSpPr txBox="1"/>
          <p:nvPr/>
        </p:nvSpPr>
        <p:spPr>
          <a:xfrm>
            <a:off x="990600" y="571500"/>
            <a:ext cx="5250656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Engenharia de </a:t>
            </a:r>
            <a:r>
              <a:rPr lang="en-US" sz="39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Escopo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4"/>
          <p:cNvSpPr/>
          <p:nvPr/>
        </p:nvSpPr>
        <p:spPr>
          <a:xfrm>
            <a:off x="762000" y="571500"/>
            <a:ext cx="76200" cy="54471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7"/>
          <p:cNvSpPr/>
          <p:nvPr/>
        </p:nvSpPr>
        <p:spPr>
          <a:xfrm>
            <a:off x="762000" y="2449710"/>
            <a:ext cx="10668000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 txBox="1"/>
          <p:nvPr/>
        </p:nvSpPr>
        <p:spPr>
          <a:xfrm>
            <a:off x="681990" y="2830710"/>
            <a:ext cx="336042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4"/>
              <a:buFont typeface="Arial"/>
              <a:buNone/>
            </a:pPr>
            <a:r>
              <a:rPr lang="en-US" sz="1404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Fase 1: MVP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7"/>
          <p:cNvSpPr txBox="1"/>
          <p:nvPr/>
        </p:nvSpPr>
        <p:spPr>
          <a:xfrm>
            <a:off x="762000" y="3202185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Autenticação JWT, controle de permissões e fluxo core de veículos.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7"/>
          <p:cNvSpPr txBox="1"/>
          <p:nvPr/>
        </p:nvSpPr>
        <p:spPr>
          <a:xfrm>
            <a:off x="4415790" y="2830710"/>
            <a:ext cx="336042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4"/>
              <a:buFont typeface="Arial"/>
              <a:buNone/>
            </a:pPr>
            <a:r>
              <a:rPr lang="en-US" sz="1404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Fase 2: BI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7"/>
          <p:cNvSpPr txBox="1"/>
          <p:nvPr/>
        </p:nvSpPr>
        <p:spPr>
          <a:xfrm>
            <a:off x="4495800" y="3202185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Módulos de inteligência, Dashboards analíticos e relatórios avançados.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 txBox="1"/>
          <p:nvPr/>
        </p:nvSpPr>
        <p:spPr>
          <a:xfrm>
            <a:off x="8149590" y="2830710"/>
            <a:ext cx="336042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4"/>
              <a:buFont typeface="Arial"/>
              <a:buNone/>
            </a:pPr>
            <a:r>
              <a:rPr lang="en-US" sz="1404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Fase 3: Escala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 txBox="1"/>
          <p:nvPr/>
        </p:nvSpPr>
        <p:spPr>
          <a:xfrm>
            <a:off x="8229600" y="3202185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Implantação assistida na Rodoviária e plano de expansão regional.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7"/>
          <p:cNvSpPr txBox="1"/>
          <p:nvPr/>
        </p:nvSpPr>
        <p:spPr>
          <a:xfrm>
            <a:off x="990600" y="571500"/>
            <a:ext cx="5310663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Roadmap de </a:t>
            </a:r>
            <a:r>
              <a:rPr lang="en-US" sz="39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Evolução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762000" y="571500"/>
            <a:ext cx="76200" cy="54471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2266950" y="235446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/>
          <p:nvPr/>
        </p:nvSpPr>
        <p:spPr>
          <a:xfrm>
            <a:off x="6000750" y="235446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/>
          <p:nvPr/>
        </p:nvSpPr>
        <p:spPr>
          <a:xfrm>
            <a:off x="9734550" y="235446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2686050"/>
            <a:ext cx="5191125" cy="2143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2686050"/>
            <a:ext cx="5191125" cy="214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8"/>
          <p:cNvSpPr txBox="1"/>
          <p:nvPr/>
        </p:nvSpPr>
        <p:spPr>
          <a:xfrm>
            <a:off x="495300" y="933450"/>
            <a:ext cx="112014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Arial"/>
              <a:buNone/>
            </a:pPr>
            <a:r>
              <a:rPr lang="en-US" sz="9000" b="1" i="0" u="none" strike="noStrike" cap="none" dirty="0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Q&amp;A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8"/>
          <p:cNvSpPr txBox="1"/>
          <p:nvPr/>
        </p:nvSpPr>
        <p:spPr>
          <a:xfrm>
            <a:off x="762000" y="5400675"/>
            <a:ext cx="106680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Equipe SG Terminal | Engenharia de Software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8"/>
          <p:cNvSpPr txBox="1"/>
          <p:nvPr/>
        </p:nvSpPr>
        <p:spPr>
          <a:xfrm>
            <a:off x="1152525" y="3076575"/>
            <a:ext cx="463057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Por que é melhor que Excel?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8"/>
          <p:cNvSpPr txBox="1"/>
          <p:nvPr/>
        </p:nvSpPr>
        <p:spPr>
          <a:xfrm>
            <a:off x="1152525" y="3600450"/>
            <a:ext cx="441007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Centralização em nuvem, criptografia JWT, auditoria de dados e impossibilidade de adulteração retroativa sem rastro.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8"/>
          <p:cNvSpPr txBox="1"/>
          <p:nvPr/>
        </p:nvSpPr>
        <p:spPr>
          <a:xfrm>
            <a:off x="6629400" y="3076575"/>
            <a:ext cx="463057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E se a internet cair?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8"/>
          <p:cNvSpPr txBox="1"/>
          <p:nvPr/>
        </p:nvSpPr>
        <p:spPr>
          <a:xfrm>
            <a:off x="6629400" y="3600450"/>
            <a:ext cx="441007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Tolerância local para manter acessos ativos e reserva financeira de contingência para redundância de links secundários.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526</Words>
  <Application>Microsoft Office PowerPoint</Application>
  <PresentationFormat>Widescreen</PresentationFormat>
  <Paragraphs>77</Paragraphs>
  <Slides>8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7" baseType="lpstr">
      <vt:lpstr>Inter Light</vt:lpstr>
      <vt:lpstr>Calibri</vt:lpstr>
      <vt:lpstr>Poppins SemiBold</vt:lpstr>
      <vt:lpstr>Urbanist</vt:lpstr>
      <vt:lpstr>Inter</vt:lpstr>
      <vt:lpstr>Poppins</vt:lpstr>
      <vt:lpstr>Arial</vt:lpstr>
      <vt:lpstr>Lato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GABRIEL IURAK OLIVEIRA</dc:creator>
  <cp:lastModifiedBy>MARCOS</cp:lastModifiedBy>
  <cp:revision>8</cp:revision>
  <dcterms:modified xsi:type="dcterms:W3CDTF">2026-06-23T23:52:51Z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2026-06-22T19:25:25Z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45fc3947-e520-4784-beb6-fe557934eade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